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F2D"/>
              </a:gs>
              <a:gs pos="100000">
                <a:srgbClr val="1A3C5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274320"/>
            <a:ext cx="11606479" cy="6309360"/>
          </a:xfrm>
          <a:prstGeom prst="roundRect">
            <a:avLst/>
          </a:prstGeom>
          <a:noFill/>
          <a:ln w="12700">
            <a:solidFill>
              <a:srgbClr val="E8C9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1302384" cy="868680"/>
          </a:xfrm>
          <a:prstGeom prst="rect">
            <a:avLst/>
          </a:prstGeom>
        </p:spPr>
      </p:pic>
      <p:pic>
        <p:nvPicPr>
          <p:cNvPr id="6" name="Picture 5" descr="knust_seal_tri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658368"/>
            <a:ext cx="61582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83480" y="841248"/>
            <a:ext cx="6583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1" i="0">
                <a:solidFill>
                  <a:srgbClr val="CFD9DF"/>
                </a:solidFill>
                <a:latin typeface="Calibri"/>
              </a:rPr>
              <a:t>KUMASI CENTRE FOR COLLABORATIVE RESEARCH</a:t>
            </a:r>
          </a:p>
          <a:p>
            <a:pPr algn="l">
              <a:lnSpc>
                <a:spcPct val="150000"/>
              </a:lnSpc>
            </a:pPr>
            <a:r>
              <a:rPr sz="1050" b="1" i="0">
                <a:solidFill>
                  <a:srgbClr val="CFD9DF"/>
                </a:solidFill>
                <a:latin typeface="Calibri"/>
              </a:rPr>
              <a:t>IN TROPICAL MEDICINE  ·  KNUST · KUMASI · GHANA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C979"/>
                </a:solidFill>
                <a:latin typeface="Calibri"/>
              </a:rPr>
              <a:t>RESEARCH SEMINAR · AI IN PUBLIC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Artificial Intelligence for</a:t>
            </a:r>
          </a:p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Malaria Transmission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4224528"/>
            <a:ext cx="1188720" cy="4445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9875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B9C7D0"/>
                </a:solidFill>
                <a:latin typeface="Calibri"/>
              </a:rPr>
              <a:t>From Plasmodium biology and vector dynamics to machine-learning surveillance — and the P-TRANSMIT AI platform, a decision-support system for Ghana's malaria elimination agenda.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C979"/>
                </a:solidFill>
                <a:latin typeface="Calibri"/>
              </a:rPr>
              <a:t>PRESENTER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0448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[Your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6235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C979"/>
                </a:solidFill>
                <a:latin typeface="Calibri"/>
              </a:rPr>
              <a:t>INSTITUTIONS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870448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KCCR · KNUST · Kumasi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56235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C979"/>
                </a:solidFill>
                <a:latin typeface="Calibri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870448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P-TRANSMIT AI v0.1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56235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C979"/>
                </a:solidFill>
                <a:latin typeface="Calibri"/>
              </a:rPr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5870448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76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2743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0B6E4F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D7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232B"/>
                </a:solidFill>
                <a:latin typeface="Calibri"/>
              </a:rPr>
              <a:t>What we will cover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95728"/>
            <a:ext cx="54864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55117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141B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146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32B"/>
                </a:solidFill>
                <a:latin typeface="Calibri"/>
              </a:rPr>
              <a:t>The malaria problem in Ghana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80720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76"/>
                </a:solidFill>
                <a:latin typeface="Calibri"/>
              </a:rPr>
              <a:t>Burden, geography, elimination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95728"/>
            <a:ext cx="54864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55117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141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51460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32B"/>
                </a:solidFill>
                <a:latin typeface="Calibri"/>
              </a:rPr>
              <a:t>Plasmodium — the parasite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80720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76"/>
                </a:solidFill>
                <a:latin typeface="Calibri"/>
              </a:rPr>
              <a:t>Species, life cycle, genome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28416"/>
            <a:ext cx="54864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48386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141B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4728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32B"/>
                </a:solidFill>
                <a:latin typeface="Calibri"/>
              </a:rPr>
              <a:t>Transmission dynamics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39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76"/>
                </a:solidFill>
                <a:latin typeface="Calibri"/>
              </a:rPr>
              <a:t>Vectors, seasonality, environment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28416"/>
            <a:ext cx="54864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48386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141B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44728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32B"/>
                </a:solidFill>
                <a:latin typeface="Calibri"/>
              </a:rPr>
              <a:t>Why AI, why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739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76"/>
                </a:solidFill>
                <a:latin typeface="Calibri"/>
              </a:rPr>
              <a:t>Limitations of classical methods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261104"/>
            <a:ext cx="54864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441655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141B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379976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32B"/>
                </a:solidFill>
                <a:latin typeface="Calibri"/>
              </a:rPr>
              <a:t>AI in transmission studies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6725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76"/>
                </a:solidFill>
                <a:latin typeface="Calibri"/>
              </a:rPr>
              <a:t>Methods landscape &amp; adoption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261104"/>
            <a:ext cx="54864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41655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141B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379976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32B"/>
                </a:solidFill>
                <a:latin typeface="Calibri"/>
              </a:rPr>
              <a:t>P-TRANSMIT AI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6725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76"/>
                </a:solidFill>
                <a:latin typeface="Calibri"/>
              </a:rPr>
              <a:t>Live demo modules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193792"/>
            <a:ext cx="54864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3492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141B"/>
                </a:solidFill>
                <a:latin typeface="Calibr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31266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32B"/>
                </a:solidFill>
                <a:latin typeface="Calibri"/>
              </a:rPr>
              <a:t>Genomics &amp; resistance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6052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76"/>
                </a:solidFill>
                <a:latin typeface="Calibri"/>
              </a:rPr>
              <a:t>Molecular surveillance meets AI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193792"/>
            <a:ext cx="54864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53492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141B"/>
                </a:solidFill>
                <a:latin typeface="Calibr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531266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32B"/>
                </a:solidFill>
                <a:latin typeface="Calibri"/>
              </a:rPr>
              <a:t>Responsible AI &amp;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56052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76"/>
                </a:solidFill>
                <a:latin typeface="Calibri"/>
              </a:rPr>
              <a:t>Governance, limits, next steps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6373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KCCR · KNUST · P-TRANSMIT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76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2743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0B6E4F"/>
                </a:solidFill>
                <a:latin typeface="Calibri"/>
              </a:rPr>
              <a:t>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D7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232B"/>
                </a:solidFill>
                <a:latin typeface="Calibri"/>
              </a:rPr>
              <a:t>Malaria in Ghana — a persistent national burden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B76"/>
                </a:solidFill>
                <a:latin typeface="Calibri"/>
              </a:rPr>
              <a:t>Endemic in all 16 regions; transmission shaped by rainfall, temperature, land use and health-system capacity. Precise, timely surveillance is the central operational challenge.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2651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8F141B"/>
                </a:solidFill>
                <a:latin typeface="Calibri"/>
              </a:rPr>
              <a:t>~5M+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A6B76"/>
                </a:solidFill>
                <a:latin typeface="Calibri"/>
              </a:rPr>
              <a:t>SUSPECTED CASES / 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55264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B76"/>
                </a:solidFill>
                <a:latin typeface="Calibri"/>
              </a:rPr>
              <a:t>Tested at health facilities nationwide (NMCP reporting)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95728"/>
            <a:ext cx="2651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B6E4F"/>
                </a:solidFill>
                <a:latin typeface="Calibri"/>
              </a:rPr>
              <a:t>Top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8094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A6B76"/>
                </a:solidFill>
                <a:latin typeface="Calibri"/>
              </a:rPr>
              <a:t>CAUSE OF OPD 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255264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B76"/>
                </a:solidFill>
                <a:latin typeface="Calibri"/>
              </a:rPr>
              <a:t>Malaria consistently ranks among top outpatient reasons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95728"/>
            <a:ext cx="2651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4A017"/>
                </a:solidFill>
                <a:latin typeface="Calibri"/>
              </a:rPr>
              <a:t>&lt;5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8094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A6B76"/>
                </a:solidFill>
                <a:latin typeface="Calibri"/>
              </a:rPr>
              <a:t>HIGHEST-RISK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255264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B76"/>
                </a:solidFill>
                <a:latin typeface="Calibri"/>
              </a:rPr>
              <a:t>Children under five and pregnant women bear most severe disease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395728"/>
            <a:ext cx="2651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B6E4F"/>
                </a:solidFill>
                <a:latin typeface="Calibri"/>
              </a:rP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98094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A6B76"/>
                </a:solidFill>
                <a:latin typeface="Calibri"/>
              </a:rPr>
              <a:t>REGIONS, UNEQUAL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255264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B76"/>
                </a:solidFill>
                <a:latin typeface="Calibri"/>
              </a:rPr>
              <a:t>Forest, coastal and savannah zones differ in seasonality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548640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📉 </a:t>
            </a:r>
            <a:r>
              <a:rPr sz="1300" b="1">
                <a:solidFill>
                  <a:srgbClr val="16232B"/>
                </a:solidFill>
                <a:latin typeface="Calibri"/>
              </a:rPr>
              <a:t>Why burden persists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Year-round transmission in southern &amp; forest zones; sharp seasonal peaks in the north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Insecticide &amp; drug pressure evolving — Anopheles resistance, pfhrp2/3 deletions, emerging artemisinin markers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4343400"/>
            <a:ext cx="548640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🎯 </a:t>
            </a:r>
            <a:r>
              <a:rPr sz="1300" b="1">
                <a:solidFill>
                  <a:srgbClr val="16232B"/>
                </a:solidFill>
                <a:latin typeface="Calibri"/>
              </a:rPr>
              <a:t>What elimination demands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Forward-looking, region-level forecasting — not retrospective reporting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Cases + environment + vector + genomic data unified in one decision surface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6373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KCCR · KNUST · P-TRANSMIT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76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2743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0B6E4F"/>
                </a:solidFill>
                <a:latin typeface="Calibri"/>
              </a:rPr>
              <a:t>THE PARASITE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D7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BIOLOGY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232B"/>
                </a:solidFill>
                <a:latin typeface="Calibri"/>
              </a:rPr>
              <a:t>Plasmodium — four species, one disease burden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103120"/>
          <a:ext cx="111831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926080"/>
                <a:gridCol w="3566160"/>
                <a:gridCol w="2999232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Species</a:t>
                      </a:r>
                    </a:p>
                  </a:txBody>
                  <a:tcPr marL="101600" marR="101600" marT="50800" marB="50800"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 in Ghana &amp; globally</a:t>
                      </a:r>
                    </a:p>
                  </a:txBody>
                  <a:tcPr marL="101600" marR="101600" marT="50800" marB="50800"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Key biological traits</a:t>
                      </a:r>
                    </a:p>
                  </a:txBody>
                  <a:tcPr marL="101600" marR="101600" marT="50800" marB="50800"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Surveillance relevance</a:t>
                      </a:r>
                    </a:p>
                  </a:txBody>
                  <a:tcPr marL="101600" marR="101600" marT="50800" marB="50800">
                    <a:solidFill>
                      <a:srgbClr val="0D1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 i="1">
                          <a:solidFill>
                            <a:srgbClr val="8F141B"/>
                          </a:solidFill>
                          <a:latin typeface="Calibri"/>
                        </a:rPr>
                        <a:t>P. falciparum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24C"/>
                          </a:solidFill>
                          <a:latin typeface="Calibri"/>
                        </a:rPr>
                        <a:t>Dominant worldwide; &gt;95% of Ghanaian cases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24C"/>
                          </a:solidFill>
                          <a:latin typeface="Calibri"/>
                        </a:rPr>
                        <a:t>High parasitaemia, cytoadherence, severe disease; ~72-hr blood cycle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24C"/>
                          </a:solidFill>
                          <a:latin typeface="Calibri"/>
                        </a:rPr>
                        <a:t>Primary target of forecasting &amp; resistance-genomics modules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 i="1">
                          <a:solidFill>
                            <a:srgbClr val="8F141B"/>
                          </a:solidFill>
                          <a:latin typeface="Calibri"/>
                        </a:rPr>
                        <a:t>P. vivax</a:t>
                      </a:r>
                    </a:p>
                  </a:txBody>
                  <a:tcPr marL="101600" marR="101600" marT="50800" marB="50800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24C"/>
                          </a:solidFill>
                          <a:latin typeface="Calibri"/>
                        </a:rPr>
                        <a:t>Rare in Ghana; major in Asia &amp; Americas</a:t>
                      </a:r>
                    </a:p>
                  </a:txBody>
                  <a:tcPr marL="101600" marR="101600" marT="50800" marB="50800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24C"/>
                          </a:solidFill>
                          <a:latin typeface="Calibri"/>
                        </a:rPr>
                        <a:t>Dormant liver hypnozoites cause relapses weeks–months later</a:t>
                      </a:r>
                    </a:p>
                  </a:txBody>
                  <a:tcPr marL="101600" marR="101600" marT="50800" marB="50800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24C"/>
                          </a:solidFill>
                          <a:latin typeface="Calibri"/>
                        </a:rPr>
                        <a:t>Relapse dynamics: a classic time-series challenge</a:t>
                      </a:r>
                    </a:p>
                  </a:txBody>
                  <a:tcPr marL="101600" marR="101600" marT="50800" marB="50800"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 i="1">
                          <a:solidFill>
                            <a:srgbClr val="8F141B"/>
                          </a:solidFill>
                          <a:latin typeface="Calibri"/>
                        </a:rPr>
                        <a:t>P. malariae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24C"/>
                          </a:solidFill>
                          <a:latin typeface="Calibri"/>
                        </a:rPr>
                        <a:t>Low prevalence; often co-infections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24C"/>
                          </a:solidFill>
                          <a:latin typeface="Calibri"/>
                        </a:rPr>
                        <a:t>Quartan cycle; chronic low-grade parasitaemia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24C"/>
                          </a:solidFill>
                          <a:latin typeface="Calibri"/>
                        </a:rPr>
                        <a:t>Long incubation complicates case attribution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 i="1">
                          <a:solidFill>
                            <a:srgbClr val="8F141B"/>
                          </a:solidFill>
                          <a:latin typeface="Calibri"/>
                        </a:rPr>
                        <a:t>P. ovale</a:t>
                      </a:r>
                    </a:p>
                  </a:txBody>
                  <a:tcPr marL="101600" marR="101600" marT="50800" marB="50800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24C"/>
                          </a:solidFill>
                          <a:latin typeface="Calibri"/>
                        </a:rPr>
                        <a:t>Sparse; West Africa coastal presence</a:t>
                      </a:r>
                    </a:p>
                  </a:txBody>
                  <a:tcPr marL="101600" marR="101600" marT="50800" marB="50800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24C"/>
                          </a:solidFill>
                          <a:latin typeface="Calibri"/>
                        </a:rPr>
                        <a:t>Hypnozoite relapses like vivax; mild episodes</a:t>
                      </a:r>
                    </a:p>
                  </a:txBody>
                  <a:tcPr marL="101600" marR="101600" marT="50800" marB="50800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24C"/>
                          </a:solidFill>
                          <a:latin typeface="Calibri"/>
                        </a:rPr>
                        <a:t>Species mixing affects case definitions in data</a:t>
                      </a:r>
                    </a:p>
                  </a:txBody>
                  <a:tcPr marL="101600" marR="101600" marT="50800" marB="50800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617720"/>
            <a:ext cx="361188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🧬 </a:t>
            </a:r>
            <a:r>
              <a:rPr sz="1300" b="1">
                <a:solidFill>
                  <a:srgbClr val="16232B"/>
                </a:solidFill>
                <a:latin typeface="Calibri"/>
              </a:rPr>
              <a:t>A compact genome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50">
                <a:solidFill>
                  <a:srgbClr val="5A6B76"/>
                </a:solidFill>
                <a:latin typeface="Calibri"/>
              </a:rPr>
              <a:t>~23 Mb, 14 chromosomes, ~5,300 genes — small enough for population-genomic surveillance, large enough to hide resistance &amp; immune-evasion variants.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4617720"/>
            <a:ext cx="361188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🔄 </a:t>
            </a:r>
            <a:r>
              <a:rPr sz="1300" b="1">
                <a:solidFill>
                  <a:srgbClr val="16232B"/>
                </a:solidFill>
                <a:latin typeface="Calibri"/>
              </a:rPr>
              <a:t>Two-host life cycle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50">
                <a:solidFill>
                  <a:srgbClr val="5A6B76"/>
                </a:solidFill>
                <a:latin typeface="Calibri"/>
              </a:rPr>
              <a:t>Human liver → blood stages → gametocytes → Anopheles midgut → sporozoites. Each stage is a modelling &amp; intervention 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4617720"/>
            <a:ext cx="361188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🧪 </a:t>
            </a:r>
            <a:r>
              <a:rPr sz="1300" b="1">
                <a:solidFill>
                  <a:srgbClr val="16232B"/>
                </a:solidFill>
                <a:latin typeface="Calibri"/>
              </a:rPr>
              <a:t>Why AI cares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50">
                <a:solidFill>
                  <a:srgbClr val="5A6B76"/>
                </a:solidFill>
                <a:latin typeface="Calibri"/>
              </a:rPr>
              <a:t>Parasite population structure, gene flow and marker frequencies vary by geography — high-dimensional spatiotemporal data is where ML outperforms tables.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6373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KCCR · KNUST · P-TRANSMIT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76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2743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0B6E4F"/>
                </a:solidFill>
                <a:latin typeface="Calibri"/>
              </a:rPr>
              <a:t>TRANSMISSION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D7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DYNAMICS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232B"/>
                </a:solidFill>
                <a:latin typeface="Calibri"/>
              </a:rPr>
              <a:t>Transmission is a spatiotemporal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B76"/>
                </a:solidFill>
                <a:latin typeface="Calibri"/>
              </a:rPr>
              <a:t>Weekly case counts are the visible output of a coupled human–parasite–mosquito–environment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87168"/>
            <a:ext cx="2103120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Environment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Rainfall &amp; lag, temperature, humidity, NDVI, surface water — breeding-site availability.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57860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6E4F"/>
                </a:solidFill>
                <a:latin typeface="Calibri"/>
              </a:rPr>
              <a:t>DRIVER 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3" y="2487168"/>
            <a:ext cx="2103120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Vector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An. gambiae s.l., An. funestus, An. coluzzii; biting rates, insecticide resistance, vectorial capacity.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57860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6E4F"/>
                </a:solidFill>
                <a:latin typeface="Calibri"/>
              </a:rPr>
              <a:t>DRIVER 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7" y="2487168"/>
            <a:ext cx="2103120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Parasite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Gametocyte carriage, genotype diversity, resistant lineages modifying infectiousness.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3" y="257860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6E4F"/>
                </a:solidFill>
                <a:latin typeface="Calibri"/>
              </a:rPr>
              <a:t>DRIVER 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2487168"/>
            <a:ext cx="2103120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Human &amp; system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ITN usage, mobility, urbanization, reporting artefacts, health-seeking behaviour.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257860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6E4F"/>
                </a:solidFill>
                <a:latin typeface="Calibri"/>
              </a:rPr>
              <a:t>DRIVER 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83496" y="2487168"/>
            <a:ext cx="2103120" cy="1783080"/>
          </a:xfrm>
          <a:prstGeom prst="roundRect">
            <a:avLst>
              <a:gd name="adj" fmla="val 5500"/>
            </a:avLst>
          </a:prstGeom>
          <a:solidFill>
            <a:srgbClr val="F2F9F6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0B6E4F"/>
                </a:solidFill>
                <a:latin typeface="Calibri"/>
              </a:rPr>
              <a:t>Observed cases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Weekly confirmed cases per region — the series our models learn to predict.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1512" y="257860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6E4F"/>
                </a:solidFill>
                <a:latin typeface="Calibri"/>
              </a:rPr>
              <a:t>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72000"/>
            <a:ext cx="548640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🌧 </a:t>
            </a:r>
            <a:r>
              <a:rPr sz="1300" b="1">
                <a:solidFill>
                  <a:srgbClr val="16232B"/>
                </a:solidFill>
                <a:latin typeface="Calibri"/>
              </a:rPr>
              <a:t>Seasonality signatures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50">
                <a:solidFill>
                  <a:srgbClr val="5A6B76"/>
                </a:solidFill>
                <a:latin typeface="Calibri"/>
              </a:rPr>
              <a:t>Southern Ghana: two rainfall peaks → bimodal transmission. Northern Ghana: single wet season → one long, high-amplitude peak. Models must capture phase and amplitude per region.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572000"/>
            <a:ext cx="548640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⏱ </a:t>
            </a:r>
            <a:r>
              <a:rPr sz="1300" b="1">
                <a:solidFill>
                  <a:srgbClr val="16232B"/>
                </a:solidFill>
                <a:latin typeface="Calibri"/>
              </a:rPr>
              <a:t>Lags are everything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50">
                <a:solidFill>
                  <a:srgbClr val="5A6B76"/>
                </a:solidFill>
                <a:latin typeface="Calibri"/>
              </a:rPr>
              <a:t>Rainfall affects cases weeks later: breeding → larval development → adult emergence → EIP → case. Useful lags: 2–8 weeks. This is why autoregressive + environmental features win.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6373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KCCR · KNUST · P-TRANSMIT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76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2743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0B6E4F"/>
                </a:solidFill>
                <a:latin typeface="Calibri"/>
              </a:rPr>
              <a:t>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D7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WHY AI, 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232B"/>
                </a:solidFill>
                <a:latin typeface="Calibri"/>
              </a:rPr>
              <a:t>Classical tools plateaued — AI meets the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3657600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📐 </a:t>
            </a:r>
            <a:r>
              <a:rPr sz="1300" b="1">
                <a:solidFill>
                  <a:srgbClr val="16232B"/>
                </a:solidFill>
                <a:latin typeface="Calibri"/>
              </a:rPr>
              <a:t>Classical mechanistic models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Ross–Macdonald family: elegant, interpretable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Parameters (vectorial capacity, EIR) costly &amp; slow to measure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Struggle with sparse, irregular real-world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148840"/>
            <a:ext cx="3657600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🤖 </a:t>
            </a:r>
            <a:r>
              <a:rPr sz="1300" b="1">
                <a:solidFill>
                  <a:srgbClr val="16232B"/>
                </a:solidFill>
                <a:latin typeface="Calibri"/>
              </a:rPr>
              <a:t>What machine learning adds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Learns lags &amp; nonlinear thresholds from routine data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Blends cases, climate, mobility, genomics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Scales to all 16 regions; updates weekly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48840"/>
            <a:ext cx="345643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🧭 </a:t>
            </a:r>
            <a:r>
              <a:rPr sz="1300" b="1">
                <a:solidFill>
                  <a:srgbClr val="16232B"/>
                </a:solidFill>
                <a:latin typeface="Calibri"/>
              </a:rPr>
              <a:t>Decision value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Pre-position RDTs, drugs, IRS/ITN before peaks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Prioritise districts for vector control &amp; case search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Early-warning signals trigger field investigation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36592"/>
            <a:ext cx="548640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🧠 </a:t>
            </a:r>
            <a:r>
              <a:rPr sz="1300" b="1">
                <a:solidFill>
                  <a:srgbClr val="16232B"/>
                </a:solidFill>
                <a:latin typeface="Calibri"/>
              </a:rPr>
              <a:t>The AI methods that matter here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50">
                <a:solidFill>
                  <a:srgbClr val="5A6B76"/>
                </a:solidFill>
                <a:latin typeface="Calibri"/>
              </a:rPr>
              <a:t>Gradient-boosted trees (XGBoost) &amp; Random Forests for tabular spatiotemporal data; ridge baselines for transparency; LSTMs &amp; temporal transformers emerging; CNNs on satellite imagery for breeding sites; Bayesian ensembles for uncertainty.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736592"/>
            <a:ext cx="548640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⚠ </a:t>
            </a:r>
            <a:r>
              <a:rPr sz="1300" b="1">
                <a:solidFill>
                  <a:srgbClr val="16232B"/>
                </a:solidFill>
                <a:latin typeface="Calibri"/>
              </a:rPr>
              <a:t>AI is an amplifier, not an oracle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50">
                <a:solidFill>
                  <a:srgbClr val="5A6B76"/>
                </a:solidFill>
                <a:latin typeface="Calibri"/>
              </a:rPr>
              <a:t>Models learn associations in the data they are given. Garbage in, garbage out — data quality, honest validation and human review are non-negotiable. This principle is engineered into P-TRANSMIT AI.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6373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KCCR · KNUST · P-TRANSMIT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76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2743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0B6E4F"/>
                </a:solidFill>
                <a:latin typeface="Calibri"/>
              </a:rPr>
              <a:t>LITERATURE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D7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ADOPTION OF AI IN MALARIA TRANSMISSION STUDIES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232B"/>
                </a:solidFill>
                <a:latin typeface="Calibri"/>
              </a:rPr>
              <a:t>The methods landscape — who uses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32B"/>
                </a:solidFill>
                <a:latin typeface="Calibri"/>
              </a:rPr>
              <a:t>Gradient boosting / Random Forest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22576"/>
            <a:ext cx="5212080" cy="182880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322576"/>
            <a:ext cx="4586630" cy="18288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22860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Dominant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7004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32B"/>
                </a:solidFill>
                <a:latin typeface="Calibri"/>
              </a:rPr>
              <a:t>Bayesian &amp; geospatial models (INLA/SGPS)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706624"/>
            <a:ext cx="5212080" cy="182880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706624"/>
            <a:ext cx="3961180" cy="18288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67004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Extensive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5409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32B"/>
                </a:solidFill>
                <a:latin typeface="Calibri"/>
              </a:rPr>
              <a:t>Deep learning — LSTM / temporal CNN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090672"/>
            <a:ext cx="5212080" cy="182880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090672"/>
            <a:ext cx="2814523" cy="18288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305409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F141B"/>
                </a:solidFill>
                <a:latin typeface="Calibri"/>
              </a:rPr>
              <a:t>Growing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3814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32B"/>
                </a:solidFill>
                <a:latin typeface="Calibri"/>
              </a:rPr>
              <a:t>Satellite-imagery CNNs (breeding sites)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474720"/>
            <a:ext cx="5212080" cy="182880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474720"/>
            <a:ext cx="2449677" cy="18288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343814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F141B"/>
                </a:solidFill>
                <a:latin typeface="Calibri"/>
              </a:rPr>
              <a:t>Growing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822191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32B"/>
                </a:solidFill>
                <a:latin typeface="Calibri"/>
              </a:rPr>
              <a:t>Hybrid ML + mechanistic (process-guided)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858767"/>
            <a:ext cx="5212080" cy="182880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858767"/>
            <a:ext cx="1980590" cy="18288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3822191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Emerging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0624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32B"/>
                </a:solidFill>
                <a:latin typeface="Calibri"/>
              </a:rPr>
              <a:t>Genomic ML (structure, resistance signals)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242816"/>
            <a:ext cx="5212080" cy="182880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4242816"/>
            <a:ext cx="1719986" cy="18288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4206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F141B"/>
                </a:solidFill>
                <a:latin typeface="Calibri"/>
              </a:rPr>
              <a:t>Emerging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59028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32B"/>
                </a:solidFill>
                <a:latin typeface="Calibri"/>
              </a:rPr>
              <a:t>Foundation / LLM-assisted analytics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4626864"/>
            <a:ext cx="5212080" cy="182880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4626864"/>
            <a:ext cx="781812" cy="18288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45902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F141B"/>
                </a:solidFill>
                <a:latin typeface="Calibri"/>
              </a:rPr>
              <a:t>Frontier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1206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A99A3"/>
                </a:solidFill>
                <a:latin typeface="Calibri"/>
              </a:rPr>
              <a:t>Indicative synthesis of the 2015–2025 literature (mapping/forecasting reviews, WHO &amp; surveillance reports); bar length = relative prevalence in studies.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486400"/>
            <a:ext cx="365760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🗺 </a:t>
            </a:r>
            <a:r>
              <a:rPr sz="1300" b="1">
                <a:solidFill>
                  <a:srgbClr val="16232B"/>
                </a:solidFill>
                <a:latin typeface="Calibri"/>
              </a:rPr>
              <a:t>Established use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00">
                <a:solidFill>
                  <a:srgbClr val="5A6B76"/>
                </a:solidFill>
                <a:latin typeface="Calibri"/>
              </a:rPr>
              <a:t>Risk mapping (Malaria Atlas Project-style), seasonal outbreak forecasting, climate-driven early warning.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70832" y="5486400"/>
            <a:ext cx="365760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🚀 </a:t>
            </a:r>
            <a:r>
              <a:rPr sz="1300" b="1">
                <a:solidFill>
                  <a:srgbClr val="16232B"/>
                </a:solidFill>
                <a:latin typeface="Calibri"/>
              </a:rPr>
              <a:t>Accelerating use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00">
                <a:solidFill>
                  <a:srgbClr val="5A6B76"/>
                </a:solidFill>
                <a:latin typeface="Calibri"/>
              </a:rPr>
              <a:t>DHIS2-linked dashboards, drone+CNN larval surveys, mobility features, marker trend models.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5486400"/>
            <a:ext cx="3456432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🧱 </a:t>
            </a:r>
            <a:r>
              <a:rPr sz="1300" b="1">
                <a:solidFill>
                  <a:srgbClr val="16232B"/>
                </a:solidFill>
                <a:latin typeface="Calibri"/>
              </a:rPr>
              <a:t>Persistent gaps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00">
                <a:solidFill>
                  <a:srgbClr val="5A6B76"/>
                </a:solidFill>
                <a:latin typeface="Calibri"/>
              </a:rPr>
              <a:t>Few deployable African-built platforms; weak documentation; rare external validation. P-TRANSMIT targets these gaps.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6373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KCCR · KNUST · P-TRANSMIT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76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2743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0B6E4F"/>
                </a:solidFill>
                <a:latin typeface="Calibri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D7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DATA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232B"/>
                </a:solidFill>
                <a:latin typeface="Calibri"/>
              </a:rPr>
              <a:t>Five data streams, one disciplined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3657600" cy="13533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🏥 </a:t>
            </a:r>
            <a:r>
              <a:rPr sz="1250" b="1">
                <a:solidFill>
                  <a:srgbClr val="16232B"/>
                </a:solidFill>
                <a:latin typeface="Calibri"/>
              </a:rPr>
              <a:t>Surveillance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Weekly confirmed cases by region — the target variable for forecasting.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148840"/>
            <a:ext cx="3657600" cy="13533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🌦 </a:t>
            </a:r>
            <a:r>
              <a:rPr sz="1250" b="1">
                <a:solidFill>
                  <a:srgbClr val="16232B"/>
                </a:solidFill>
                <a:latin typeface="Calibri"/>
              </a:rPr>
              <a:t>Environmental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Rainfall, temperature, NDVI from CHIRPS, ERA5, MODIS — the leading indicators.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0456" y="2148840"/>
            <a:ext cx="3657600" cy="13533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🧬 </a:t>
            </a:r>
            <a:r>
              <a:rPr sz="1250" b="1">
                <a:solidFill>
                  <a:srgbClr val="16232B"/>
                </a:solidFill>
                <a:latin typeface="Calibri"/>
              </a:rPr>
              <a:t>Genomic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Variant calls, marker tables, sample metadata from KCCR sequencing pipelines.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30168"/>
            <a:ext cx="3657600" cy="13533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💊 </a:t>
            </a:r>
            <a:r>
              <a:rPr sz="1250" b="1">
                <a:solidFill>
                  <a:srgbClr val="16232B"/>
                </a:solidFill>
                <a:latin typeface="Calibri"/>
              </a:rPr>
              <a:t>Resistance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Marker frequencies + treatment outcomes (SMART-style), never conflated with genomics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3630168"/>
            <a:ext cx="3657600" cy="13533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🗺 </a:t>
            </a:r>
            <a:r>
              <a:rPr sz="1250" b="1">
                <a:solidFill>
                  <a:srgbClr val="16232B"/>
                </a:solidFill>
                <a:latin typeface="Calibri"/>
              </a:rPr>
              <a:t>Spatial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geoBoundaries ADM1/ADM2, WorldPop rasters for rate denominators.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3630168"/>
            <a:ext cx="3657600" cy="1353312"/>
          </a:xfrm>
          <a:prstGeom prst="roundRect">
            <a:avLst>
              <a:gd name="adj" fmla="val 5500"/>
            </a:avLst>
          </a:prstGeom>
          <a:solidFill>
            <a:srgbClr val="F2F9F6"/>
          </a:solidFill>
          <a:ln w="12700">
            <a:solidFill>
              <a:srgbClr val="BC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✅ </a:t>
            </a:r>
            <a:r>
              <a:rPr sz="1250" b="1">
                <a:solidFill>
                  <a:srgbClr val="16232B"/>
                </a:solidFill>
                <a:latin typeface="Calibri"/>
              </a:rPr>
              <a:t>Pipeline discipline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Auto-profiling, missingness reports, fuzzy region matching, no silent imputation, synthetic data flagged.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257800"/>
            <a:ext cx="11183112" cy="8412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🧾 </a:t>
            </a:r>
            <a:r>
              <a:rPr sz="1300" b="1">
                <a:solidFill>
                  <a:srgbClr val="16232B"/>
                </a:solidFill>
                <a:latin typeface="Calibri"/>
              </a:rPr>
              <a:t>Feature engineering — the transmission lens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50">
                <a:solidFill>
                  <a:srgbClr val="5A6B76"/>
                </a:solidFill>
                <a:latin typeface="Calibri"/>
              </a:rPr>
              <a:t>Case lags (1–4 wk) · rolling means · rainfall &amp; temperature at lags 2–8 wk · seasonality harmonics · region identifiers · population-normalised rates. Each feature documented, versioned, auditable.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6373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KCCR · KNUST · P-TRANSMIT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76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2743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0B6E4F"/>
                </a:solidFill>
                <a:latin typeface="Calibri"/>
              </a:rPr>
              <a:t>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D7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P-TRANSMIT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232B"/>
                </a:solidFill>
                <a:latin typeface="Calibri"/>
              </a:rPr>
              <a:t>One platform, ten integrated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B76"/>
                </a:solidFill>
                <a:latin typeface="Calibri"/>
              </a:rPr>
              <a:t>A locally-hosted web platform (FastAPI + React) built for Ghanaian surveillance workflows — every prediction accompanied by provenance, metrics and explicit limitations.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87168"/>
            <a:ext cx="21031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150" b="1">
                <a:solidFill>
                  <a:srgbClr val="16232B"/>
                </a:solidFill>
                <a:latin typeface="Calibri"/>
              </a:rPr>
              <a:t>📈 </a:t>
            </a:r>
            <a:r>
              <a:rPr sz="1150" b="1">
                <a:solidFill>
                  <a:srgbClr val="16232B"/>
                </a:solidFill>
                <a:latin typeface="Calibri"/>
              </a:rPr>
              <a:t>Dashboard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950">
                <a:solidFill>
                  <a:srgbClr val="5A6B76"/>
                </a:solidFill>
                <a:latin typeface="Calibri"/>
              </a:rPr>
              <a:t>National KPIs, risk map, forecast bars, explainability.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8063" y="2487168"/>
            <a:ext cx="21031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150" b="1">
                <a:solidFill>
                  <a:srgbClr val="16232B"/>
                </a:solidFill>
                <a:latin typeface="Calibri"/>
              </a:rPr>
              <a:t>🦟 </a:t>
            </a:r>
            <a:r>
              <a:rPr sz="1150" b="1">
                <a:solidFill>
                  <a:srgbClr val="16232B"/>
                </a:solidFill>
                <a:latin typeface="Calibri"/>
              </a:rPr>
              <a:t>Transmission AI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950">
                <a:solidFill>
                  <a:srgbClr val="5A6B76"/>
                </a:solidFill>
                <a:latin typeface="Calibri"/>
              </a:rPr>
              <a:t>Train &amp; forecast weekly cases at 1/2/4/8-week horizons.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3207" y="2487168"/>
            <a:ext cx="21031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150" b="1">
                <a:solidFill>
                  <a:srgbClr val="16232B"/>
                </a:solidFill>
                <a:latin typeface="Calibri"/>
              </a:rPr>
              <a:t>🗺️ </a:t>
            </a:r>
            <a:r>
              <a:rPr sz="1150" b="1">
                <a:solidFill>
                  <a:srgbClr val="16232B"/>
                </a:solidFill>
                <a:latin typeface="Calibri"/>
              </a:rPr>
              <a:t>Spatial Intelligence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950">
                <a:solidFill>
                  <a:srgbClr val="5A6B76"/>
                </a:solidFill>
                <a:latin typeface="Calibri"/>
              </a:rPr>
              <a:t>Interactive choropleth: risk, observed, forecast layers.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2487168"/>
            <a:ext cx="21031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150" b="1">
                <a:solidFill>
                  <a:srgbClr val="16232B"/>
                </a:solidFill>
                <a:latin typeface="Calibri"/>
              </a:rPr>
              <a:t>🧬 </a:t>
            </a:r>
            <a:r>
              <a:rPr sz="1150" b="1">
                <a:solidFill>
                  <a:srgbClr val="16232B"/>
                </a:solidFill>
                <a:latin typeface="Calibri"/>
              </a:rPr>
              <a:t>Genomics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950">
                <a:solidFill>
                  <a:srgbClr val="5A6B76"/>
                </a:solidFill>
                <a:latin typeface="Calibri"/>
              </a:rPr>
              <a:t>Marker tables, regional frequencies, marker catalogue.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83496" y="2487168"/>
            <a:ext cx="21031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150" b="1">
                <a:solidFill>
                  <a:srgbClr val="16232B"/>
                </a:solidFill>
                <a:latin typeface="Calibri"/>
              </a:rPr>
              <a:t>💊 </a:t>
            </a:r>
            <a:r>
              <a:rPr sz="1150" b="1">
                <a:solidFill>
                  <a:srgbClr val="16232B"/>
                </a:solidFill>
                <a:latin typeface="Calibri"/>
              </a:rPr>
              <a:t>Resistance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950">
                <a:solidFill>
                  <a:srgbClr val="5A6B76"/>
                </a:solidFill>
                <a:latin typeface="Calibri"/>
              </a:rPr>
              <a:t>SMART-style surveillance scaffolding with guardrails.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87368"/>
            <a:ext cx="21031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150" b="1">
                <a:solidFill>
                  <a:srgbClr val="16232B"/>
                </a:solidFill>
                <a:latin typeface="Calibri"/>
              </a:rPr>
              <a:t>⚠ </a:t>
            </a:r>
            <a:r>
              <a:rPr sz="1150" b="1">
                <a:solidFill>
                  <a:srgbClr val="16232B"/>
                </a:solidFill>
                <a:latin typeface="Calibri"/>
              </a:rPr>
              <a:t>Early Warning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950">
                <a:solidFill>
                  <a:srgbClr val="5A6B76"/>
                </a:solidFill>
                <a:latin typeface="Calibri"/>
              </a:rPr>
              <a:t>Signals with evidence, severity &amp; review workflow.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98063" y="4087368"/>
            <a:ext cx="21031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150" b="1">
                <a:solidFill>
                  <a:srgbClr val="16232B"/>
                </a:solidFill>
                <a:latin typeface="Calibri"/>
              </a:rPr>
              <a:t>📊 </a:t>
            </a:r>
            <a:r>
              <a:rPr sz="1150" b="1">
                <a:solidFill>
                  <a:srgbClr val="16232B"/>
                </a:solidFill>
                <a:latin typeface="Calibri"/>
              </a:rPr>
              <a:t>Data Explorer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950">
                <a:solidFill>
                  <a:srgbClr val="5A6B76"/>
                </a:solidFill>
                <a:latin typeface="Calibri"/>
              </a:rPr>
              <a:t>Upload CSV/Excel/JSON; quality profiling; fuzzy matching.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3207" y="4087368"/>
            <a:ext cx="21031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150" b="1">
                <a:solidFill>
                  <a:srgbClr val="16232B"/>
                </a:solidFill>
                <a:latin typeface="Calibri"/>
              </a:rPr>
              <a:t>🧪 </a:t>
            </a:r>
            <a:r>
              <a:rPr sz="1150" b="1">
                <a:solidFill>
                  <a:srgbClr val="16232B"/>
                </a:solidFill>
                <a:latin typeface="Calibri"/>
              </a:rPr>
              <a:t>Model Laboratory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950">
                <a:solidFill>
                  <a:srgbClr val="5A6B76"/>
                </a:solidFill>
                <a:latin typeface="Calibri"/>
              </a:rPr>
              <a:t>Model zoo, seeds, temporal validation, provenance.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8352" y="4087368"/>
            <a:ext cx="21031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150" b="1">
                <a:solidFill>
                  <a:srgbClr val="16232B"/>
                </a:solidFill>
                <a:latin typeface="Calibri"/>
              </a:rPr>
              <a:t>📑 </a:t>
            </a:r>
            <a:r>
              <a:rPr sz="1150" b="1">
                <a:solidFill>
                  <a:srgbClr val="16232B"/>
                </a:solidFill>
                <a:latin typeface="Calibri"/>
              </a:rPr>
              <a:t>Reports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950">
                <a:solidFill>
                  <a:srgbClr val="5A6B76"/>
                </a:solidFill>
                <a:latin typeface="Calibri"/>
              </a:rPr>
              <a:t>One-click reproducibility-oriented markdown reports.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83496" y="4087368"/>
            <a:ext cx="2103120" cy="1463040"/>
          </a:xfrm>
          <a:prstGeom prst="roundRect">
            <a:avLst>
              <a:gd name="adj" fmla="val 5500"/>
            </a:avLst>
          </a:prstGeom>
          <a:solidFill>
            <a:srgbClr val="F2F9F6"/>
          </a:solidFill>
          <a:ln w="12700">
            <a:solidFill>
              <a:srgbClr val="BC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150" b="1">
                <a:solidFill>
                  <a:srgbClr val="16232B"/>
                </a:solidFill>
                <a:latin typeface="Calibri"/>
              </a:rPr>
              <a:t>⚙️ </a:t>
            </a:r>
            <a:r>
              <a:rPr sz="1150" b="1">
                <a:solidFill>
                  <a:srgbClr val="16232B"/>
                </a:solidFill>
                <a:latin typeface="Calibri"/>
              </a:rPr>
              <a:t>Governance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950">
                <a:solidFill>
                  <a:srgbClr val="5A6B76"/>
                </a:solidFill>
                <a:latin typeface="Calibri"/>
              </a:rPr>
              <a:t>System status, scientific charter, audit transparency.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6373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KCCR · KNUST · P-TRANSMIT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76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2743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0B6E4F"/>
                </a:solidFill>
                <a:latin typeface="Calibri"/>
              </a:rPr>
              <a:t>CORE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D7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ENGINE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232B"/>
                </a:solidFill>
                <a:latin typeface="Calibri"/>
              </a:rPr>
              <a:t>Transmission forecasting — how the AI actually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210312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Ingest &amp; validate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Weekly series per region; quality checks; nothing imputed silently.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28600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6E4F"/>
                </a:solidFill>
                <a:latin typeface="Calibri"/>
              </a:rPr>
              <a:t>STEP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8063" y="2194560"/>
            <a:ext cx="210312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Build features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Case lags 1–4, environmental covariates, seasonality harmonics.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228600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6E4F"/>
                </a:solidFill>
                <a:latin typeface="Calibri"/>
              </a:rPr>
              <a:t>STEP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3207" y="2194560"/>
            <a:ext cx="210312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Train model zoo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Random Forest · XGBoost · Ridge, per horizon (+1/+2/+4/+8 wk).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3" y="228600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6E4F"/>
                </a:solidFill>
                <a:latin typeface="Calibri"/>
              </a:rPr>
              <a:t>STEP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8352" y="2194560"/>
            <a:ext cx="210312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16232B"/>
                </a:solidFill>
                <a:latin typeface="Calibri"/>
              </a:rPr>
              <a:t>Validate temporally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Strict chronological split — the model never sees the future.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228600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6E4F"/>
                </a:solidFill>
                <a:latin typeface="Calibri"/>
              </a:rPr>
              <a:t>STEP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83496" y="2194560"/>
            <a:ext cx="2103120" cy="1691640"/>
          </a:xfrm>
          <a:prstGeom prst="roundRect">
            <a:avLst>
              <a:gd name="adj" fmla="val 5500"/>
            </a:avLst>
          </a:prstGeom>
          <a:solidFill>
            <a:srgbClr val="F2F9F6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250" b="1">
                <a:solidFill>
                  <a:srgbClr val="0B6E4F"/>
                </a:solidFill>
                <a:latin typeface="Calibri"/>
              </a:rPr>
              <a:t>Forecast &amp; explain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050">
                <a:solidFill>
                  <a:srgbClr val="5A6B76"/>
                </a:solidFill>
                <a:latin typeface="Calibri"/>
              </a:rPr>
              <a:t>Predictions + intervals + permutation feature importance.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228600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6E4F"/>
                </a:solidFill>
                <a:latin typeface="Calibri"/>
              </a:rPr>
              <a:t>STEP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3611880" cy="1234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6373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KCCR · KNUST · P-TRANSMIT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76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2743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0B6E4F"/>
                </a:solidFill>
                <a:latin typeface="Calibri"/>
              </a:rPr>
              <a:t>SPATIAL ·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D7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FROM MAP TO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232B"/>
                </a:solidFill>
                <a:latin typeface="Calibri"/>
              </a:rPr>
              <a:t>Spatial intelligence &amp; early-warning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5486400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🗺️ </a:t>
            </a:r>
            <a:r>
              <a:rPr sz="1300" b="1">
                <a:solidFill>
                  <a:srgbClr val="16232B"/>
                </a:solidFill>
                <a:latin typeface="Calibri"/>
              </a:rPr>
              <a:t>Interactive risk cartography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Leaflet choropleth of Ghana's 16 regions (geoBoundaries ADM1, CC-BY 4.0)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Layers: risk category · recent 4-week case mean · forecast median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Risk classes relative to each dataset's own history — honest framing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Drill-down table: 4-wk mean, total, historical p90, forecast median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148840"/>
            <a:ext cx="5486400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⚠ </a:t>
            </a:r>
            <a:r>
              <a:rPr sz="1300" b="1">
                <a:solidFill>
                  <a:srgbClr val="16232B"/>
                </a:solidFill>
                <a:latin typeface="Calibri"/>
              </a:rPr>
              <a:t>Early warning workflow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Scan compares recent weeks vs. historical p90 &amp; forecast trajectory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Signals carry severity, evidence JSON, model ref &amp; confidence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Human review: acknowledge / dismiss — never autonomous action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Types: unusual case elevation · forecast upswing · emerging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11183112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🛰 </a:t>
            </a:r>
            <a:r>
              <a:rPr sz="1300" b="1">
                <a:solidFill>
                  <a:srgbClr val="16232B"/>
                </a:solidFill>
                <a:latin typeface="Calibri"/>
              </a:rPr>
              <a:t>Phase 3 — environmental layers ahead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50">
                <a:solidFill>
                  <a:srgbClr val="5A6B76"/>
                </a:solidFill>
                <a:latin typeface="Calibri"/>
              </a:rPr>
              <a:t>Environmental-suitability surfaces (rainfall anomalies, NDVI greening, surface-water indices) and surveillance-coverage layers join the map — moving from case-conditional to environment-forward prediction.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6373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KCCR · KNUST · P-TRANSMIT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76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2743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0B6E4F"/>
                </a:solidFill>
                <a:latin typeface="Calibri"/>
              </a:rPr>
              <a:t>GENOMICS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D7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MOLECULAR SURVEILLANCE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232B"/>
                </a:solidFill>
                <a:latin typeface="Calibri"/>
              </a:rPr>
              <a:t>Plasmodium genomics &amp; drug-resistance guardrails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3657600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🧬 </a:t>
            </a:r>
            <a:r>
              <a:rPr sz="1300" b="1">
                <a:solidFill>
                  <a:srgbClr val="16232B"/>
                </a:solidFill>
                <a:latin typeface="Calibri"/>
              </a:rPr>
              <a:t>Genomics module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Descriptive statistics of variant calls by region &amp; sample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Top detected markers table with call counts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Phase 2: heterozygosity, MOI, PCA structure, genetic distance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KCCR dataset connector under data-access agreement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148840"/>
            <a:ext cx="3657600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💊 </a:t>
            </a:r>
            <a:r>
              <a:rPr sz="1300" b="1">
                <a:solidFill>
                  <a:srgbClr val="16232B"/>
                </a:solidFill>
                <a:latin typeface="Calibri"/>
              </a:rPr>
              <a:t>Resistance module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SMART-style: marker frequencies, temporal trends, geography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Catalogue: kelch13, pfcrt, pfmdr1, pfdhfr/pfdhps, pfhrp2/3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Outcome-data integration where ethically approved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Interpretation thresholds always researcher-supplied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48840"/>
            <a:ext cx="3456432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🛡 </a:t>
            </a:r>
            <a:r>
              <a:rPr sz="1300" b="1">
                <a:solidFill>
                  <a:srgbClr val="16232B"/>
                </a:solidFill>
                <a:latin typeface="Calibri"/>
              </a:rPr>
              <a:t>The bright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4192" y="3063240"/>
            <a:ext cx="3127248" cy="685800"/>
          </a:xfrm>
          <a:prstGeom prst="roundRect">
            <a:avLst>
              <a:gd name="adj" fmla="val 10000"/>
            </a:avLst>
          </a:prstGeom>
          <a:solidFill>
            <a:srgbClr val="FD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172968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A detected genetic marker is NOT phenotypic drug resistance.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388620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B76"/>
                </a:solidFill>
                <a:latin typeface="Calibri"/>
              </a:rPr>
              <a:t>Interpretation thresholds are researcher-supplied (WHO / published definitions). The platform never invents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92040"/>
            <a:ext cx="11183112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🤝 </a:t>
            </a:r>
            <a:r>
              <a:rPr sz="1300" b="1">
                <a:solidFill>
                  <a:srgbClr val="16232B"/>
                </a:solidFill>
                <a:latin typeface="Calibri"/>
              </a:rPr>
              <a:t>Where AI meets genomics (roadmap)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50">
                <a:solidFill>
                  <a:srgbClr val="5A6B76"/>
                </a:solidFill>
                <a:latin typeface="Calibri"/>
              </a:rPr>
              <a:t>ML over genomic features — geographic assignment of parasite populations, marker-frequency trend forecasting, and fusion models joining genomic signals with case forecasts — unlocks integrated molecular-epidemiological intelligence.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6373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KCCR · KNUST · P-TRANSMIT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76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2743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0B6E4F"/>
                </a:solidFill>
                <a:latin typeface="Calibri"/>
              </a:rPr>
              <a:t>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D7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RESPONSIBLE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232B"/>
                </a:solidFill>
                <a:latin typeface="Calibri"/>
              </a:rPr>
              <a:t>Governance is engineered, not appended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5486400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🔬 </a:t>
            </a:r>
            <a:r>
              <a:rPr sz="1300" b="1">
                <a:solidFill>
                  <a:srgbClr val="16232B"/>
                </a:solidFill>
                <a:latin typeface="Calibri"/>
              </a:rPr>
              <a:t>Scientific honesty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Synthetic demonstration data permanently labelled — never shown as real surveillance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Temporal validation only; MAE/RMSE primary, R² for completeness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Intervals are residual-based, explicitly not calibrated probabilistic bounds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Every model stored with dataset, features, seed &amp; software versions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148840"/>
            <a:ext cx="5486400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🧑‍⚕️ </a:t>
            </a:r>
            <a:r>
              <a:rPr sz="1300" b="1">
                <a:solidFill>
                  <a:srgbClr val="16232B"/>
                </a:solidFill>
                <a:latin typeface="Calibri"/>
              </a:rPr>
              <a:t>Human primacy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Every screen: predictions are not diagnoses and never solely determine treatment or public-health action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Alerts require human acknowledge/dismiss workflow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Role-based access; audit logs for logins, dataset ops, training, reports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No PII upload; stewardship per institutional agreement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365760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🧾 </a:t>
            </a:r>
            <a:r>
              <a:rPr sz="1300" b="1">
                <a:solidFill>
                  <a:srgbClr val="16232B"/>
                </a:solidFill>
                <a:latin typeface="Calibri"/>
              </a:rPr>
              <a:t>Provenance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50">
                <a:solidFill>
                  <a:srgbClr val="5A6B76"/>
                </a:solidFill>
                <a:latin typeface="Calibri"/>
              </a:rPr>
              <a:t>Full lineage: uploaded file → feature matrix → trained artifact → forecast row.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4892040"/>
            <a:ext cx="365760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⚖️ </a:t>
            </a:r>
            <a:r>
              <a:rPr sz="1300" b="1">
                <a:solidFill>
                  <a:srgbClr val="16232B"/>
                </a:solidFill>
                <a:latin typeface="Calibri"/>
              </a:rPr>
              <a:t>Equity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50">
                <a:solidFill>
                  <a:srgbClr val="5A6B76"/>
                </a:solidFill>
                <a:latin typeface="Calibri"/>
              </a:rPr>
              <a:t>Region-relative risk framing avoids penalising low-reporting districts; coverage gaps reported, not hidden.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892040"/>
            <a:ext cx="3456432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📖 </a:t>
            </a:r>
            <a:r>
              <a:rPr sz="1300" b="1">
                <a:solidFill>
                  <a:srgbClr val="16232B"/>
                </a:solidFill>
                <a:latin typeface="Calibri"/>
              </a:rPr>
              <a:t>Reproducibility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50">
                <a:solidFill>
                  <a:srgbClr val="5A6B76"/>
                </a:solidFill>
                <a:latin typeface="Calibri"/>
              </a:rPr>
              <a:t>One-click research report regenerates the full analysis trail for peer review.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6373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KCCR · KNUST · P-TRANSMIT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A6B76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2743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0B6E4F"/>
                </a:solidFill>
                <a:latin typeface="Calibri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D7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141B"/>
                </a:solidFill>
                <a:latin typeface="Calibri"/>
              </a:rPr>
              <a:t>WHERE WE GO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232B"/>
                </a:solidFill>
                <a:latin typeface="Calibri"/>
              </a:rPr>
              <a:t>Deployment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365760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50" b="1">
                <a:solidFill>
                  <a:srgbClr val="16232B"/>
                </a:solidFill>
                <a:latin typeface="Calibri"/>
              </a:rPr>
              <a:t>Foundation &amp; forecasting core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Data Explorer with quality profiling &amp; region matching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Transmission engine: 3 models × 4 horizons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Spatial dashboard &amp; early-warning scan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Auth, audit logs, provenance registry,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26771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6E4F"/>
                </a:solidFill>
                <a:latin typeface="Calibri"/>
              </a:rPr>
              <a:t>PHASE 1 · NOW — COMPLETE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148840"/>
            <a:ext cx="365760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50" b="1">
                <a:solidFill>
                  <a:srgbClr val="16232B"/>
                </a:solidFill>
                <a:latin typeface="Calibri"/>
              </a:rPr>
              <a:t>Genomics &amp; resistance activation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KCCR genomic connector (data-access agreement)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MOI / heterozygosity / population-structure analytics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Marker trend charts with researcher-set thresholds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LSTM evaluation; probabilistic intervals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26771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D4A017"/>
                </a:solidFill>
                <a:latin typeface="Calibri"/>
              </a:rPr>
              <a:t>PHASE 2 · NEXT 3–6 MONTHS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2148840"/>
            <a:ext cx="365760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50" b="1">
                <a:solidFill>
                  <a:srgbClr val="16232B"/>
                </a:solidFill>
                <a:latin typeface="Calibri"/>
              </a:rPr>
              <a:t>Environmental fusion &amp; scale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CHIRPS / ERA5 / NDVI automated ingestion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Environmental-suitability &amp; coverage map layers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District-level (ADM2) resolution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1">
                <a:solidFill>
                  <a:srgbClr val="D4A017"/>
                </a:solidFill>
                <a:latin typeface="Calibri"/>
              </a:rPr>
              <a:t>▪ </a:t>
            </a:r>
            <a:r>
              <a:rPr sz="1050">
                <a:solidFill>
                  <a:srgbClr val="3C4B55"/>
                </a:solidFill>
                <a:latin typeface="Calibri"/>
              </a:rPr>
              <a:t>Prospective evaluation with NMCP/DHIS2; Ashanti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26771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F141B"/>
                </a:solidFill>
                <a:latin typeface="Calibri"/>
              </a:rPr>
              <a:t>PHASE 3 · 6–18 MONTHS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303520"/>
            <a:ext cx="11183112" cy="8046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/>
            <a:r>
              <a:rPr sz="1300" b="1">
                <a:solidFill>
                  <a:srgbClr val="16232B"/>
                </a:solidFill>
                <a:latin typeface="Calibri"/>
              </a:rPr>
              <a:t>🎯 </a:t>
            </a:r>
            <a:r>
              <a:rPr sz="1300" b="1">
                <a:solidFill>
                  <a:srgbClr val="16232B"/>
                </a:solidFill>
                <a:latin typeface="Calibri"/>
              </a:rPr>
              <a:t>North star</a:t>
            </a:r>
          </a:p>
          <a:p>
            <a:pPr>
              <a:lnSpc>
                <a:spcPct val="112000"/>
              </a:lnSpc>
              <a:spcBef>
                <a:spcPts val="500"/>
              </a:spcBef>
            </a:pPr>
            <a:r>
              <a:rPr sz="1100">
                <a:solidFill>
                  <a:srgbClr val="5A6B76"/>
                </a:solidFill>
                <a:latin typeface="Calibri"/>
              </a:rPr>
              <a:t>A nationally trusted, locally hosted AI surveillance companion that shortens the distance between data → signal → field action — built in Ghana, by Ghanaian institutions, for the elimination agenda.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6373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KCCR · KNUST · P-TRANSMIT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B76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F2D"/>
              </a:gs>
              <a:gs pos="100000">
                <a:srgbClr val="1A3C5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ccr_kn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2884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5960" y="3291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EBBC4"/>
                </a:solidFill>
                <a:latin typeface="Calibri"/>
              </a:rPr>
              <a:t>KCCR · KNUST  —  MALARIA AI SEMINAR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11183112" cy="12700"/>
          </a:xfrm>
          <a:prstGeom prst="rect">
            <a:avLst/>
          </a:prstGeom>
          <a:solidFill>
            <a:srgbClr val="3A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C979"/>
                </a:solidFill>
                <a:latin typeface="Calibri"/>
              </a:rPr>
              <a:t>SUMMARY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AI is now practical infrastructure for malaria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9C7D0"/>
                </a:solidFill>
                <a:latin typeface="Calibri"/>
              </a:rPr>
              <a:t>The parasite is ancient; our response can be modern. Disciplined data, honest validation and human primacy turn routine surveillance into foresight.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43200"/>
            <a:ext cx="3657600" cy="1371600"/>
          </a:xfrm>
          <a:prstGeom prst="roundRect">
            <a:avLst>
              <a:gd name="adj" fmla="val 7000"/>
            </a:avLst>
          </a:prstGeom>
          <a:solidFill>
            <a:srgbClr val="1A3346"/>
          </a:solidFill>
          <a:ln w="12700">
            <a:solidFill>
              <a:srgbClr val="2E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14300"/>
          <a:lstStyle/>
          <a:p>
            <a:pPr algn="ctr"/>
            <a:r>
              <a:rPr sz="1250" b="1">
                <a:solidFill>
                  <a:srgbClr val="E8C979"/>
                </a:solidFill>
                <a:latin typeface="Calibri"/>
              </a:rPr>
              <a:t>1️⃣ Remember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050">
                <a:solidFill>
                  <a:srgbClr val="C5D1D8"/>
                </a:solidFill>
                <a:latin typeface="Calibri"/>
              </a:rPr>
              <a:t>Transmission is spatiotemporal — models must respect time, space and lags. Temporal validation is non-negotiable.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743200"/>
            <a:ext cx="3657600" cy="1371600"/>
          </a:xfrm>
          <a:prstGeom prst="roundRect">
            <a:avLst>
              <a:gd name="adj" fmla="val 7000"/>
            </a:avLst>
          </a:prstGeom>
          <a:solidFill>
            <a:srgbClr val="1A3346"/>
          </a:solidFill>
          <a:ln w="12700">
            <a:solidFill>
              <a:srgbClr val="2E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14300"/>
          <a:lstStyle/>
          <a:p>
            <a:pPr algn="ctr"/>
            <a:r>
              <a:rPr sz="1250" b="1">
                <a:solidFill>
                  <a:srgbClr val="E8C979"/>
                </a:solidFill>
                <a:latin typeface="Calibri"/>
              </a:rPr>
              <a:t>2️⃣ Remember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050">
                <a:solidFill>
                  <a:srgbClr val="C5D1D8"/>
                </a:solidFill>
                <a:latin typeface="Calibri"/>
              </a:rPr>
              <a:t>Markers ≠ resistance; predictions ≠ diagnoses. Guardrails make AI usable in public health.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0456" y="2743200"/>
            <a:ext cx="3657600" cy="1371600"/>
          </a:xfrm>
          <a:prstGeom prst="roundRect">
            <a:avLst>
              <a:gd name="adj" fmla="val 7000"/>
            </a:avLst>
          </a:prstGeom>
          <a:solidFill>
            <a:srgbClr val="1A3346"/>
          </a:solidFill>
          <a:ln w="12700">
            <a:solidFill>
              <a:srgbClr val="2E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14300"/>
          <a:lstStyle/>
          <a:p>
            <a:pPr algn="ctr"/>
            <a:r>
              <a:rPr sz="1250" b="1">
                <a:solidFill>
                  <a:srgbClr val="E8C979"/>
                </a:solidFill>
                <a:latin typeface="Calibri"/>
              </a:rPr>
              <a:t>3️⃣ Remember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050">
                <a:solidFill>
                  <a:srgbClr val="C5D1D8"/>
                </a:solidFill>
                <a:latin typeface="Calibri"/>
              </a:rPr>
              <a:t>Local ownership matters — locally hosted, locally governed, built for Ghana's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43484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1A3346"/>
          </a:solidFill>
          <a:ln w="12700">
            <a:solidFill>
              <a:srgbClr val="2E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🙌 Acknowledgements &amp; contact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100">
                <a:solidFill>
                  <a:srgbClr val="C5D1D8"/>
                </a:solidFill>
                <a:latin typeface="Calibri"/>
              </a:rPr>
              <a:t>Kumasi Centre for Collaborative Research in Tropical Medicine (KCCR) · Kwame Nkrumah University of Science and Technology (KNUST) · Ghana NMCP &amp; regional health directorates (data partners, Phase 3).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8C979"/>
                </a:solidFill>
                <a:latin typeface="Calibri"/>
              </a:rPr>
              <a:t>Questions &amp; live demonstration welcome.  ·  Platform: http://localhost:4173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55664"/>
            <a:ext cx="164592" cy="406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6455664"/>
            <a:ext cx="164592" cy="40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" y="6455664"/>
            <a:ext cx="164592" cy="40640"/>
          </a:xfrm>
          <a:prstGeom prst="rect">
            <a:avLst/>
          </a:prstGeom>
          <a:solidFill>
            <a:srgbClr val="8F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63733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FA0AC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